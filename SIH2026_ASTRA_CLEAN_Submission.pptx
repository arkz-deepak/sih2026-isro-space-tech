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b="1" sz="1100"/>
              <a:t>Problem Statement ID: </a:t>
            </a:r>
            <a:r>
              <a:rPr b="1" sz="1100"/>
              <a:t>SIH26226</a:t>
            </a:r>
          </a:p>
          <a:p>
            <a:r>
              <a:rPr b="1" sz="1100"/>
              <a:t>Problem Statement Title: </a:t>
            </a:r>
            <a:r>
              <a:rPr b="0" sz="1100"/>
              <a:t>Student Innovation - Space technology refers to the application of engineering principles to the design, development, manufacture, and operation of devices and systems for space travel and exploration.</a:t>
            </a:r>
          </a:p>
          <a:p>
            <a:r>
              <a:rPr b="1" sz="1100"/>
              <a:t>Theme: </a:t>
            </a:r>
            <a:r>
              <a:rPr b="1" sz="1100"/>
              <a:t>Space Technology</a:t>
            </a:r>
          </a:p>
          <a:p>
            <a:r>
              <a:rPr b="1" sz="1100"/>
              <a:t>PS Category: </a:t>
            </a:r>
            <a:r>
              <a:rPr b="1" sz="1100"/>
              <a:t>Hardware</a:t>
            </a:r>
          </a:p>
          <a:p>
            <a:r>
              <a:rPr b="1" sz="1100"/>
              <a:t>Idea Title: </a:t>
            </a:r>
            <a:r>
              <a:rPr b="1" sz="1100"/>
              <a:t>Project ASTRA-CLEAN: Autonomous In-Orbit Servicing, Visual Docking &amp; Active Debris Mitigation Nano-Satellite</a:t>
            </a:r>
          </a:p>
          <a:p>
            <a:r>
              <a:rPr b="1" sz="1100"/>
              <a:t>Target Agency: </a:t>
            </a:r>
            <a:r>
              <a:rPr b="0" sz="1100"/>
              <a:t>Indian Space Research Organisation (ISRO) — SPADEX, BAS-01, IS4OM</a:t>
            </a:r>
          </a:p>
          <a:p>
            <a:r>
              <a:rPr b="1" sz="1100"/>
              <a:t>Team Leader: </a:t>
            </a:r>
            <a:r>
              <a:rPr b="1" sz="1100"/>
              <a:t>Deepak (Arkz-Deepak)</a:t>
            </a:r>
          </a:p>
          <a:p>
            <a:r>
              <a:rPr b="1" sz="1100"/>
              <a:t>Team Members: </a:t>
            </a:r>
            <a:r>
              <a:rPr b="0" sz="1100"/>
              <a:t>Frontend &amp; 3D Specialist | Astrodynamics &amp; Telemetry Lead | Flight Hardware &amp; GNC Lead</a:t>
            </a:r>
          </a:p>
          <a:p>
            <a:r>
              <a:rPr b="1" sz="1100"/>
              <a:t>Institute Name: </a:t>
            </a:r>
            <a:r>
              <a:rPr b="0" sz="1100"/>
              <a:t>[Your College / University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200" b="1"/>
            </a:pPr>
            <a:r>
              <a:t>IDEA TITLE: PROJECT ASTRA-CLEAN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b="1" sz="1200">
                <a:solidFill>
                  <a:srgbClr val="003366"/>
                </a:solidFill>
              </a:rPr>
              <a:t>1. Proposed Solution (Idea / Solution / Prototype Description):</a:t>
            </a:r>
          </a:p>
          <a:p>
            <a:pPr lvl="1"/>
            <a:r>
              <a:rPr sz="1050"/>
              <a:t>Autonomous 6U Nano-Satellite Bus (30x20x10 cm, &lt;12 kg) engineered as an in-orbit robotic mechanic and debris sweeper.</a:t>
            </a:r>
          </a:p>
          <a:p>
            <a:pPr lvl="1"/>
            <a:r>
              <a:rPr sz="1050"/>
              <a:t>Combines edge AI optical perception, deterministic relative orbital mechanics, and bio-inspired gecko electro-adhesion.</a:t>
            </a:r>
          </a:p>
          <a:p>
            <a:r>
              <a:rPr b="1" sz="1200">
                <a:solidFill>
                  <a:srgbClr val="003366"/>
                </a:solidFill>
              </a:rPr>
              <a:t>2. Detailed Explanation &amp; How It Addresses the Problem:</a:t>
            </a:r>
          </a:p>
          <a:p>
            <a:pPr lvl="1"/>
            <a:r>
              <a:rPr sz="1050"/>
              <a:t>Edge AI Perception: Dual global-shutter stereo cameras + micro-ToF LiDAR track 6-DoF tumbling motion via Jetson Orin NX (12 ms @ 30 FPS).</a:t>
            </a:r>
          </a:p>
          <a:p>
            <a:pPr lvl="1"/>
            <a:r>
              <a:rPr sz="1050"/>
              <a:t>Deterministic Guidance: 8 cold-gas N2 micro-thrusters (10 mN) execute Clohessy-Wiltshire (CW) relative orbit burns along target V-Bar.</a:t>
            </a:r>
          </a:p>
          <a:p>
            <a:pPr lvl="1"/>
            <a:r>
              <a:rPr sz="1050"/>
              <a:t>Zero-Rebound Soft Capture: 3-finger gripper with 1.5 kV van der Waals electro-adhesion captures tumbling debris with zero contact bounce.</a:t>
            </a:r>
          </a:p>
          <a:p>
            <a:pPr lvl="1"/>
            <a:r>
              <a:rPr sz="1050"/>
              <a:t>Solves Ground Latency: Fully autonomous proximity operations eliminate the 8-12 min ground station communication bottleneck.</a:t>
            </a:r>
          </a:p>
          <a:p>
            <a:pPr lvl="1"/>
            <a:r>
              <a:rPr sz="1050"/>
              <a:t>Prevents Explosions: Unlike destructive harpoons/nets, soft-capture preserves fuel tanks and prevents secondary fragmentation.</a:t>
            </a:r>
          </a:p>
          <a:p>
            <a:r>
              <a:rPr b="1" sz="1200">
                <a:solidFill>
                  <a:srgbClr val="003366"/>
                </a:solidFill>
              </a:rPr>
              <a:t>3. Innovation and Uniqueness of the Solution:</a:t>
            </a:r>
          </a:p>
          <a:p>
            <a:pPr lvl="1"/>
            <a:r>
              <a:rPr sz="1050"/>
              <a:t>Zero-rebound van der Waals electro-adhesive gripper for non-cooperative space debris capture.</a:t>
            </a:r>
          </a:p>
          <a:p>
            <a:pPr lvl="1"/>
            <a:r>
              <a:rPr sz="1050"/>
              <a:t>Deterministic Keep-Out Zone (KOZ) artificial potential fields guarantee collision-free approach corridors.</a:t>
            </a:r>
          </a:p>
          <a:p>
            <a:pPr lvl="1"/>
            <a:r>
              <a:rPr sz="1050"/>
              <a:t>End-to-End Digital Twin: Real-time Next.js 15 / Three.js 3D Mission Control GCS connected to 20 Hz WebSocket backend.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b="1" sz="1200">
                <a:solidFill>
                  <a:srgbClr val="003366"/>
                </a:solidFill>
              </a:rPr>
              <a:t>1. Technologies to be Used (Hardware, Avionics &amp; Software):</a:t>
            </a:r>
          </a:p>
          <a:p>
            <a:pPr lvl="1"/>
            <a:r>
              <a:rPr sz="1050"/>
              <a:t>Flight Avionics &amp; AI: NVIDIA Jetson Orin NX (100 TOPS), ARM Cortex-M7 (SAMV71 rad-tolerant watchdog), TensorRT, PyTorch.</a:t>
            </a:r>
          </a:p>
          <a:p>
            <a:pPr lvl="1"/>
            <a:r>
              <a:rPr sz="1050"/>
              <a:t>Sensors &amp; ADCS: 2x Sony IMX296 global-shutter stereo, micro-ToF LiDAR (100m to 10cm), 3x CubeWheel reaction wheels.</a:t>
            </a:r>
          </a:p>
          <a:p>
            <a:pPr lvl="1"/>
            <a:r>
              <a:rPr sz="1050"/>
              <a:t>Actuators: 8x Canted Cold-Gas N2 Thrusters (10 mN impulse bits, Isp = 65s), 3-finger gecko electro-adhesive gripper.</a:t>
            </a:r>
          </a:p>
          <a:p>
            <a:pPr lvl="1"/>
            <a:r>
              <a:rPr sz="1050"/>
              <a:t>Backend &amp; Mechanics: Python FastAPI, NumPy, SciPy, Skyfield / SGP4, Clohessy-Wiltshire solver, WebSockets at 20 Hz.</a:t>
            </a:r>
          </a:p>
          <a:p>
            <a:pPr lvl="1"/>
            <a:r>
              <a:rPr sz="1050"/>
              <a:t>Mission Control GCS: Next.js 15, React 19, TypeScript, Three.js 3D Orbital Canvas, Tailwind CSS, Zustand.</a:t>
            </a:r>
          </a:p>
          <a:p>
            <a:r>
              <a:rPr b="1" sz="1200">
                <a:solidFill>
                  <a:srgbClr val="003366"/>
                </a:solidFill>
              </a:rPr>
              <a:t>2. Methodology &amp; Implementation Process (System Flow):</a:t>
            </a:r>
          </a:p>
          <a:p>
            <a:pPr lvl="1"/>
            <a:r>
              <a:rPr sz="1050"/>
              <a:t>Step 1 (Perception): Dual stereo + LiDAR point-cloud feed Jetson Orin keypoint net to calculate 6-DoF relative pose at 30 FPS.</a:t>
            </a:r>
          </a:p>
          <a:p>
            <a:pPr lvl="1"/>
            <a:r>
              <a:rPr sz="1050"/>
              <a:t>Step 2 (Sensor Fusion): Discrete Unscented Kalman Filter (UKF) fuses optical keypoints, LiDAR range, and IMU angular rates.</a:t>
            </a:r>
          </a:p>
          <a:p>
            <a:pPr lvl="1"/>
            <a:r>
              <a:rPr sz="1050"/>
              <a:t>Step 3 (Guidance): ZEM/ZEV algorithm calculates fuel-optimal thrust burns to guide satellite along V-Bar within Keep-Out Zone.</a:t>
            </a:r>
          </a:p>
          <a:p>
            <a:pPr lvl="1"/>
            <a:r>
              <a:rPr sz="1050"/>
              <a:t>Step 4 (Soft Capture): Thrusters match target spin; gecko gripper activates 1.5 kV electro-adhesion for secure latching.</a:t>
            </a:r>
          </a:p>
          <a:p>
            <a:pPr lvl="1"/>
            <a:r>
              <a:rPr sz="1050"/>
              <a:t>Step 5 (Telemetry &amp; GCS): Real-time CCSDS telemetry broadcast at 20 Hz to 3D Three.js digital twin with emergency abort interlock.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